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22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23383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F323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D9488"/>
          </a:solidFill>
          <a:ln/>
        </p:spPr>
      </p:sp>
      <p:pic>
        <p:nvPicPr>
          <p:cNvPr id="5" name="Image 0" descr="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636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CARE, DIGITIZED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" y="246888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Little Roots</a:t>
            </a:r>
            <a:endParaRPr lang="en-US" sz="4600" dirty="0"/>
          </a:p>
          <a:p>
            <a:pPr marL="0" indent="0">
              <a:buNone/>
            </a:pPr>
            <a:r>
              <a:rPr lang="en-US" sz="2400" i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 Reservation System for Children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Laravel web application that lets Parents book, manage, and track their children's clinic appointments online.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212080"/>
            <a:ext cx="7863840" cy="0"/>
          </a:xfrm>
          <a:prstGeom prst="line">
            <a:avLst/>
          </a:prstGeom>
          <a:noFill/>
          <a:ln w="12700">
            <a:solidFill>
              <a:srgbClr val="3550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Telecom Institute (NTI)  ·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with PHP — Summer Internship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pediatric clinics still rely on manual, paper-based scheduling — creating friction for parents and staff alike.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  <a:effectLst>
            <a:outerShdw blurRad="127000" dist="38100" dir="5400000" algn="bl" rotWithShape="0">
              <a:srgbClr val="1C2B2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88036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311810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Wait Times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4389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queue management means hours lost in waiting rooms.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51460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  <a:effectLst>
            <a:outerShdw blurRad="127000" dist="38100" dir="5400000" algn="bl" rotWithShape="0">
              <a:srgbClr val="1C2B29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880360"/>
            <a:ext cx="822960" cy="82296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2" name="Image 1" descr="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11810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Scheduling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09160" y="4389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records create chaos for clinic staff.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251460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  <a:effectLst>
            <a:outerShdw blurRad="127000" dist="38100" dir="5400000" algn="bl" rotWithShape="0">
              <a:srgbClr val="1C2B29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865889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icons/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31181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Appointments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12480" y="4389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reminders lead to no-shows and wasted doctor time.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digital platform that lets parents book, manage, and track their children's clinic appointments — anytime, anywhere.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C2B2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971800" y="2743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29809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4160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appointments 24/7 online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77640" y="3794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3400" y="24231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C2B29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675120" y="2743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1" descr="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9809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6344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663440" y="4160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reschedule, or cancel with ease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680960" y="3794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8046720" y="24231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C2B29"/>
          </a:solidFill>
          <a:ln/>
        </p:spPr>
      </p:sp>
      <p:sp>
        <p:nvSpPr>
          <p:cNvPr id="20" name="Text 16"/>
          <p:cNvSpPr/>
          <p:nvPr/>
        </p:nvSpPr>
        <p:spPr>
          <a:xfrm>
            <a:off x="836676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10378440" y="2743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2" descr="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6184" y="29809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6676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366760" y="4160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health records and visit history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Laravel's MVC architecture — a mature, batteries-included PHP framework chosen for rapid, secure development.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95728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icons/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52374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3172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023360" y="2331720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Templates + Bootstrap 5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081528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3145536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27355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08152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023360" y="3081528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10 (PHP 8) — MVC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383133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3895344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02336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83133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023360" y="3831336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Eloquent ORM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40080" y="458114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645152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77316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58114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4023360" y="4581144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Auth / Sanctum + Bcrypt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40080" y="533095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5394960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4" descr="icons/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552297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33095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023360" y="533095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(local) → Web Hosting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2468880"/>
            <a:ext cx="3200400" cy="2834640"/>
          </a:xfrm>
          <a:prstGeom prst="roundRect">
            <a:avLst>
              <a:gd name="adj" fmla="val 3871"/>
            </a:avLst>
          </a:prstGeom>
          <a:solidFill>
            <a:srgbClr val="233835"/>
          </a:solidFill>
          <a:ln w="12700">
            <a:solidFill>
              <a:srgbClr val="2E4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28346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icons/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307238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 / Bootstrap UI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4434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views for parents, doctors &amp; admins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06240" y="35661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892040" y="2468880"/>
            <a:ext cx="3200400" cy="2834640"/>
          </a:xfrm>
          <a:prstGeom prst="roundRect">
            <a:avLst>
              <a:gd name="adj" fmla="val 3871"/>
            </a:avLst>
          </a:prstGeom>
          <a:solidFill>
            <a:srgbClr val="233835"/>
          </a:solidFill>
          <a:ln w="12700">
            <a:solidFill>
              <a:srgbClr val="2E46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80760" y="28346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307238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 App (MVC)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166360" y="4434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Controllers → Models handle all business logic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092440" y="35661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8760988" y="2468880"/>
            <a:ext cx="3200400" cy="2834640"/>
          </a:xfrm>
          <a:prstGeom prst="roundRect">
            <a:avLst>
              <a:gd name="adj" fmla="val 3871"/>
            </a:avLst>
          </a:prstGeom>
          <a:solidFill>
            <a:srgbClr val="233835"/>
          </a:solidFill>
          <a:ln w="12700">
            <a:solidFill>
              <a:srgbClr val="2E46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966960" y="28346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4" y="307238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0684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052560" y="4434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storage for records, bookings &amp; users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06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Booking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book appointments 24/7 from any device.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icons/user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920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2606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Profiles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34340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pediatricians by specialty and availability.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046720" y="173736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9202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0" y="2606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04672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reduce missed visits.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2976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3" descr="icons/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805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51663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Records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40080" y="5577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centralized child health history.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43400" y="42976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4" descr="icons/bar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4805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43400" y="51663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4343400" y="5577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staff manage every booking in one place.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 · 1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Sign-In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Parents, doctors, and admins each sign in through one clean, branded entry point.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2148840"/>
            <a:ext cx="8686800" cy="4425696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  <a:effectLst>
            <a:outerShdw blurRad="228600" dist="63500" dir="5400000" algn="bl" rotWithShape="0">
              <a:srgbClr val="1C2B29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01952" y="2253996"/>
            <a:ext cx="100584" cy="10058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2121408" y="2253996"/>
            <a:ext cx="100584" cy="100584"/>
          </a:xfrm>
          <a:prstGeom prst="ellipse">
            <a:avLst/>
          </a:prstGeom>
          <a:solidFill>
            <a:srgbClr val="E8B23D"/>
          </a:solidFill>
          <a:ln/>
        </p:spPr>
      </p:sp>
      <p:sp>
        <p:nvSpPr>
          <p:cNvPr id="8" name="Shape 6"/>
          <p:cNvSpPr/>
          <p:nvPr/>
        </p:nvSpPr>
        <p:spPr>
          <a:xfrm>
            <a:off x="2340864" y="2253996"/>
            <a:ext cx="100584" cy="1005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CAEFA1-9FC9-718F-E573-FE5E7D2D7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596" y="2459736"/>
            <a:ext cx="8582328" cy="40690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 · 2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Landing 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warm, trust-building homepage that speaks directly to parents — ratings, stats, and a clear call to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2148840"/>
            <a:ext cx="8686800" cy="4425696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  <a:effectLst>
            <a:outerShdw blurRad="228600" dist="63500" dir="5400000" algn="bl" rotWithShape="0">
              <a:srgbClr val="1C2B29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01952" y="2253996"/>
            <a:ext cx="100584" cy="10058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2121408" y="2253996"/>
            <a:ext cx="100584" cy="100584"/>
          </a:xfrm>
          <a:prstGeom prst="ellipse">
            <a:avLst/>
          </a:prstGeom>
          <a:solidFill>
            <a:srgbClr val="E8B23D"/>
          </a:solidFill>
          <a:ln/>
        </p:spPr>
      </p:sp>
      <p:sp>
        <p:nvSpPr>
          <p:cNvPr id="8" name="Shape 6"/>
          <p:cNvSpPr/>
          <p:nvPr/>
        </p:nvSpPr>
        <p:spPr>
          <a:xfrm>
            <a:off x="2340864" y="2253996"/>
            <a:ext cx="100584" cy="10058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assets/shot_land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83080" y="2459736"/>
            <a:ext cx="8595360" cy="4069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 · 3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Visit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choose a visit type, pick a doctor and time, and confirm — all in a single guided 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2148840"/>
            <a:ext cx="8686800" cy="4425696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  <a:effectLst>
            <a:outerShdw blurRad="228600" dist="63500" dir="5400000" algn="bl" rotWithShape="0">
              <a:srgbClr val="1C2B29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01952" y="2253996"/>
            <a:ext cx="100584" cy="10058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2121408" y="2253996"/>
            <a:ext cx="100584" cy="100584"/>
          </a:xfrm>
          <a:prstGeom prst="ellipse">
            <a:avLst/>
          </a:prstGeom>
          <a:solidFill>
            <a:srgbClr val="E8B23D"/>
          </a:solidFill>
          <a:ln/>
        </p:spPr>
      </p:sp>
      <p:sp>
        <p:nvSpPr>
          <p:cNvPr id="8" name="Shape 6"/>
          <p:cNvSpPr/>
          <p:nvPr/>
        </p:nvSpPr>
        <p:spPr>
          <a:xfrm>
            <a:off x="2340864" y="2253996"/>
            <a:ext cx="100584" cy="10058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assets/shot_book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75460" y="2459736"/>
            <a:ext cx="8595360" cy="4069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CLINIC STAFF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control panel giving staff full visibility over every clinic operation.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233835"/>
          </a:solidFill>
          <a:ln w="12700">
            <a:solidFill>
              <a:srgbClr val="2E4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6974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880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57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Manager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1248" y="4297680"/>
            <a:ext cx="21122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doctor availability and shifts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0712" y="233172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233835"/>
          </a:solidFill>
          <a:ln w="12700">
            <a:solidFill>
              <a:srgbClr val="2E46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302252" y="26974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2880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657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Table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11880" y="4297680"/>
            <a:ext cx="21122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doctor, or date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81344" y="233172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233835"/>
          </a:solidFill>
          <a:ln w="12700">
            <a:solidFill>
              <a:srgbClr val="2E46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7072884" y="26974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28803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64224" y="3657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List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82512" y="4297680"/>
            <a:ext cx="21122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patients registered in the site 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51976" y="233172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233835"/>
          </a:solidFill>
          <a:ln w="12700">
            <a:solidFill>
              <a:srgbClr val="2E46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843516" y="26974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icons/bar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6396" y="28803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34856" y="36576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53144" y="4297680"/>
            <a:ext cx="21122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trends and clinic performance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COMPLIANCE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Data Privacy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Laravel's built-in protections keep every child's medical record safe by default.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E3F1EF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930652"/>
            <a:ext cx="676656" cy="67665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1043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6060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 Password Hashing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37360" y="304495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password is hashed and salted — never stored in plain text.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24231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E3F1EF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2930652"/>
            <a:ext cx="676656" cy="67665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31043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6060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CSRF Protection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315200" y="304495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Laravel's token-based middleware blocks cross-site request forgery.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3434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E3F1EF"/>
          </a:solidFill>
          <a:ln/>
        </p:spPr>
      </p:sp>
      <p:sp>
        <p:nvSpPr>
          <p:cNvPr id="16" name="Shape 12"/>
          <p:cNvSpPr/>
          <p:nvPr/>
        </p:nvSpPr>
        <p:spPr>
          <a:xfrm>
            <a:off x="896112" y="4850892"/>
            <a:ext cx="676656" cy="67665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icons/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0246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5262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737360" y="496519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guards ensure parents, doctors, and admins each see only what they need.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17920" y="43434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E3F1EF"/>
          </a:solidFill>
          <a:ln/>
        </p:spPr>
      </p:sp>
      <p:sp>
        <p:nvSpPr>
          <p:cNvPr id="21" name="Shape 16"/>
          <p:cNvSpPr/>
          <p:nvPr/>
        </p:nvSpPr>
        <p:spPr>
          <a:xfrm>
            <a:off x="6473952" y="4850892"/>
            <a:ext cx="676656" cy="67665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icons/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502462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5262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Everywhere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15200" y="496519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transit is encrypted end-to-end.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ERD defines how doctors, patients, appointments, and departments relate to one another.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</p:spPr>
      </p:sp>
      <p:pic>
        <p:nvPicPr>
          <p:cNvPr id="6" name="Image 0" descr="assets/er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1674" y="1975104"/>
            <a:ext cx="10804045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8704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records, prescriptions, allergies, vaccinations &amp; growth tracking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97680" y="58704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user accounts, attachments, and notifications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55280" y="58704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B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enforced via primary &amp; foreign key relationships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 to grow — with planned features that make pediatric care smarter and more connected.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  <a:effectLst>
            <a:outerShdw blurRad="101600" dist="25400" dir="5400000" algn="bl" rotWithShape="0">
              <a:srgbClr val="1C2B29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517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C2B2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291840"/>
            <a:ext cx="640080" cy="640080"/>
          </a:xfrm>
          <a:prstGeom prst="ellipse">
            <a:avLst/>
          </a:prstGeom>
          <a:solidFill>
            <a:srgbClr val="E3F1EF"/>
          </a:solidFill>
          <a:ln/>
        </p:spPr>
      </p:sp>
      <p:pic>
        <p:nvPicPr>
          <p:cNvPr id="9" name="Image 0" descr="icons/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44728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4114800"/>
            <a:ext cx="2112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Telemedicine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41248" y="4526280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consultations between doctors and parents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10712" y="242316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  <a:effectLst>
            <a:outerShdw blurRad="101600" dist="25400" dir="5400000" algn="bl" rotWithShape="0">
              <a:srgbClr val="1C2B29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9312" y="26517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C2B29"/>
          </a:solidFill>
          <a:ln/>
        </p:spPr>
      </p:sp>
      <p:sp>
        <p:nvSpPr>
          <p:cNvPr id="14" name="Text 11"/>
          <p:cNvSpPr/>
          <p:nvPr/>
        </p:nvSpPr>
        <p:spPr>
          <a:xfrm>
            <a:off x="3639312" y="26517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39312" y="3291840"/>
            <a:ext cx="640080" cy="640080"/>
          </a:xfrm>
          <a:prstGeom prst="ellipse">
            <a:avLst/>
          </a:prstGeom>
          <a:solidFill>
            <a:srgbClr val="E3F1EF"/>
          </a:solidFill>
          <a:ln/>
        </p:spPr>
      </p:sp>
      <p:pic>
        <p:nvPicPr>
          <p:cNvPr id="16" name="Image 1" descr="icons/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44728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4114800"/>
            <a:ext cx="2112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Suggestions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11880" y="4526280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AI-powered appointment recommendations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81344" y="242316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  <a:effectLst>
            <a:outerShdw blurRad="101600" dist="25400" dir="5400000" algn="bl" rotWithShape="0">
              <a:srgbClr val="1C2B29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9944" y="26517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C2B29"/>
          </a:solidFill>
          <a:ln/>
        </p:spPr>
      </p:sp>
      <p:sp>
        <p:nvSpPr>
          <p:cNvPr id="21" name="Text 17"/>
          <p:cNvSpPr/>
          <p:nvPr/>
        </p:nvSpPr>
        <p:spPr>
          <a:xfrm>
            <a:off x="6409944" y="26517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v2.2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9944" y="3291840"/>
            <a:ext cx="640080" cy="640080"/>
          </a:xfrm>
          <a:prstGeom prst="ellipse">
            <a:avLst/>
          </a:prstGeom>
          <a:solidFill>
            <a:srgbClr val="E3F1EF"/>
          </a:solidFill>
          <a:ln/>
        </p:spPr>
      </p:sp>
      <p:pic>
        <p:nvPicPr>
          <p:cNvPr id="23" name="Image 2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344728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82512" y="4114800"/>
            <a:ext cx="2112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Multi-Branch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382512" y="4526280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multiple clinics under one account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951976" y="242316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  <a:effectLst>
            <a:outerShdw blurRad="101600" dist="25400" dir="5400000" algn="bl" rotWithShape="0">
              <a:srgbClr val="1C2B29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180576" y="26517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C2B29"/>
          </a:solidFill>
          <a:ln/>
        </p:spPr>
      </p:sp>
      <p:sp>
        <p:nvSpPr>
          <p:cNvPr id="28" name="Text 23"/>
          <p:cNvSpPr/>
          <p:nvPr/>
        </p:nvSpPr>
        <p:spPr>
          <a:xfrm>
            <a:off x="9180576" y="26517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180576" y="3291840"/>
            <a:ext cx="640080" cy="640080"/>
          </a:xfrm>
          <a:prstGeom prst="ellipse">
            <a:avLst/>
          </a:prstGeom>
          <a:solidFill>
            <a:srgbClr val="E3F1EF"/>
          </a:solidFill>
          <a:ln/>
        </p:spPr>
      </p:sp>
      <p:pic>
        <p:nvPicPr>
          <p:cNvPr id="30" name="Image 3" descr="icons/smart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3447288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53144" y="4114800"/>
            <a:ext cx="2112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9153144" y="4526280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companion apps for iOS &amp; Android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4-member team from the NTI Full Stack with PHP summer internship track.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E3F1EF"/>
          </a:solidFill>
          <a:ln/>
        </p:spPr>
      </p:sp>
      <p:sp>
        <p:nvSpPr>
          <p:cNvPr id="6" name="Shape 4"/>
          <p:cNvSpPr/>
          <p:nvPr/>
        </p:nvSpPr>
        <p:spPr>
          <a:xfrm>
            <a:off x="1394460" y="283464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3090672"/>
            <a:ext cx="493776" cy="4937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406908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06908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5B6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 Eid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10712" y="246888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E3F1EF"/>
          </a:solidFill>
          <a:ln/>
        </p:spPr>
      </p:sp>
      <p:sp>
        <p:nvSpPr>
          <p:cNvPr id="12" name="Shape 9"/>
          <p:cNvSpPr/>
          <p:nvPr/>
        </p:nvSpPr>
        <p:spPr>
          <a:xfrm>
            <a:off x="4165092" y="283464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3090672"/>
            <a:ext cx="493776" cy="4937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85032" y="406908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85032" y="406908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5B6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 Nabil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685032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81344" y="246888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E3F1EF"/>
          </a:solidFill>
          <a:ln/>
        </p:spPr>
      </p:sp>
      <p:sp>
        <p:nvSpPr>
          <p:cNvPr id="18" name="Shape 14"/>
          <p:cNvSpPr/>
          <p:nvPr/>
        </p:nvSpPr>
        <p:spPr>
          <a:xfrm>
            <a:off x="6935724" y="283464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2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56" y="3090672"/>
            <a:ext cx="493776" cy="49377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455664" y="406908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55664" y="406908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5B6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Hanan Reda 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55664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Testing 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951976" y="246888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E3F1EF"/>
          </a:solidFill>
          <a:ln/>
        </p:spPr>
      </p:sp>
      <p:sp>
        <p:nvSpPr>
          <p:cNvPr id="24" name="Shape 19"/>
          <p:cNvSpPr/>
          <p:nvPr/>
        </p:nvSpPr>
        <p:spPr>
          <a:xfrm>
            <a:off x="9706356" y="283464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3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388" y="3090672"/>
            <a:ext cx="493776" cy="49377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226296" y="406908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CE4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9226296" y="406908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5B6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Abanoub Morqus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226296" y="4480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Testing 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23383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D9488"/>
          </a:solidFill>
          <a:ln/>
        </p:spPr>
      </p:sp>
      <p:pic>
        <p:nvPicPr>
          <p:cNvPr id="4" name="Image 0" descr="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179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2103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794760"/>
            <a:ext cx="7863840" cy="0"/>
          </a:xfrm>
          <a:prstGeom prst="line">
            <a:avLst/>
          </a:prstGeom>
          <a:noFill/>
          <a:ln w="12700">
            <a:solidFill>
              <a:srgbClr val="3550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— Clinic Reservation System for Children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Laravel + MySQL  ·  NTI Full Stack with PHP Summer Internship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ROOTS  ·  CLINIC RESERVATION SYSTEM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821</Words>
  <Application>Microsoft Office PowerPoint</Application>
  <PresentationFormat>Custom</PresentationFormat>
  <Paragraphs>174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Eid Fares Eid 2300061</cp:lastModifiedBy>
  <cp:revision>4</cp:revision>
  <dcterms:created xsi:type="dcterms:W3CDTF">2026-07-15T23:06:02Z</dcterms:created>
  <dcterms:modified xsi:type="dcterms:W3CDTF">2026-07-16T08:57:12Z</dcterms:modified>
</cp:coreProperties>
</file>